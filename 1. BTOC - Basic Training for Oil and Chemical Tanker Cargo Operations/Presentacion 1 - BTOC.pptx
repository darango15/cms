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8/19/2024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‹Nº›</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8/19/2024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3E5059C3-6A89-4494-99FF-5A4D6FFD50EB}" type="datetimeFigureOut">
              <a:rPr lang="en-US" dirty="0"/>
              <a:t>8/19/2024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8/19/2024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2609285" y="2851331"/>
            <a:ext cx="3893623" cy="307143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666635" y="2851331"/>
            <a:ext cx="3899798" cy="307143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8/19/2024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8/19/2024</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8/19/2024</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37D525BB-DA17-4BA0-B3C8-3AC3ABC827E6}" type="datetimeFigureOut">
              <a:rPr lang="en-US" dirty="0"/>
              <a:t>8/19/2024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s-MX"/>
              <a:t>Haz clic para modificar el estilo de título del patrón</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B16C4C9A-3960-41CF-A4E9-2A8FB932454B}" type="datetimeFigureOut">
              <a:rPr lang="en-US" dirty="0"/>
              <a:t>8/19/2024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8/19/2024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8/19/2024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8/19/2024</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‹Nº›</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184C68-E30D-4FFE-BD2E-64AB96C08638}"/>
              </a:ext>
            </a:extLst>
          </p:cNvPr>
          <p:cNvSpPr>
            <a:spLocks noGrp="1"/>
          </p:cNvSpPr>
          <p:nvPr>
            <p:ph type="ctrTitle"/>
          </p:nvPr>
        </p:nvSpPr>
        <p:spPr/>
        <p:txBody>
          <a:bodyPr/>
          <a:lstStyle/>
          <a:p>
            <a:endParaRPr lang="es-PA"/>
          </a:p>
        </p:txBody>
      </p:sp>
      <p:sp>
        <p:nvSpPr>
          <p:cNvPr id="3" name="Subtítulo 2">
            <a:extLst>
              <a:ext uri="{FF2B5EF4-FFF2-40B4-BE49-F238E27FC236}">
                <a16:creationId xmlns:a16="http://schemas.microsoft.com/office/drawing/2014/main" id="{4737A550-2BC0-482F-B909-4747AD364090}"/>
              </a:ext>
            </a:extLst>
          </p:cNvPr>
          <p:cNvSpPr>
            <a:spLocks noGrp="1"/>
          </p:cNvSpPr>
          <p:nvPr>
            <p:ph type="subTitle" idx="1"/>
          </p:nvPr>
        </p:nvSpPr>
        <p:spPr/>
        <p:txBody>
          <a:bodyPr/>
          <a:lstStyle/>
          <a:p>
            <a:endParaRPr lang="es-PA"/>
          </a:p>
        </p:txBody>
      </p:sp>
      <p:pic>
        <p:nvPicPr>
          <p:cNvPr id="5" name="Imagen 4">
            <a:extLst>
              <a:ext uri="{FF2B5EF4-FFF2-40B4-BE49-F238E27FC236}">
                <a16:creationId xmlns:a16="http://schemas.microsoft.com/office/drawing/2014/main" id="{C0C67E98-D1FC-404C-A266-E2396FB89383}"/>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087169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C93C11-5A1A-4FA3-B350-FC64A4F7D6C8}"/>
              </a:ext>
            </a:extLst>
          </p:cNvPr>
          <p:cNvSpPr>
            <a:spLocks noGrp="1"/>
          </p:cNvSpPr>
          <p:nvPr>
            <p:ph type="title"/>
          </p:nvPr>
        </p:nvSpPr>
        <p:spPr/>
        <p:txBody>
          <a:bodyPr/>
          <a:lstStyle/>
          <a:p>
            <a:pPr algn="ctr"/>
            <a:r>
              <a:rPr lang="es-PA" dirty="0" err="1"/>
              <a:t>Oil</a:t>
            </a:r>
            <a:r>
              <a:rPr lang="es-PA" dirty="0"/>
              <a:t> </a:t>
            </a:r>
            <a:r>
              <a:rPr lang="es-PA" dirty="0" err="1"/>
              <a:t>Ships</a:t>
            </a:r>
            <a:endParaRPr lang="es-PA" dirty="0"/>
          </a:p>
        </p:txBody>
      </p:sp>
      <p:sp>
        <p:nvSpPr>
          <p:cNvPr id="3" name="Marcador de contenido 2">
            <a:extLst>
              <a:ext uri="{FF2B5EF4-FFF2-40B4-BE49-F238E27FC236}">
                <a16:creationId xmlns:a16="http://schemas.microsoft.com/office/drawing/2014/main" id="{8BA465C2-7A88-43A4-8C5E-F1C3044F660F}"/>
              </a:ext>
            </a:extLst>
          </p:cNvPr>
          <p:cNvSpPr>
            <a:spLocks noGrp="1"/>
          </p:cNvSpPr>
          <p:nvPr>
            <p:ph idx="1"/>
          </p:nvPr>
        </p:nvSpPr>
        <p:spPr/>
        <p:txBody>
          <a:bodyPr/>
          <a:lstStyle/>
          <a:p>
            <a:pPr marL="0" indent="0" algn="just">
              <a:buNone/>
            </a:pPr>
            <a:r>
              <a:rPr lang="en-US" dirty="0"/>
              <a:t>An oil tanker, also known as a petroleum tanker, is a ship designed for the bulk transport of oil or its products. There are two basic types of oil tankers: crude tankers and product tankers. Crude tankers move large quantities of unrefined crude oil from its point of extraction to refineries. Product tankers, generally much smaller, are designed to move refined products from refineries to points near consuming markets.</a:t>
            </a:r>
            <a:endParaRPr lang="es-PA" dirty="0"/>
          </a:p>
        </p:txBody>
      </p:sp>
    </p:spTree>
    <p:extLst>
      <p:ext uri="{BB962C8B-B14F-4D97-AF65-F5344CB8AC3E}">
        <p14:creationId xmlns:p14="http://schemas.microsoft.com/office/powerpoint/2010/main" val="226799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DF77E0-27B6-458D-937B-ACFEB8F1FA58}"/>
              </a:ext>
            </a:extLst>
          </p:cNvPr>
          <p:cNvSpPr>
            <a:spLocks noGrp="1"/>
          </p:cNvSpPr>
          <p:nvPr>
            <p:ph type="title"/>
          </p:nvPr>
        </p:nvSpPr>
        <p:spPr/>
        <p:txBody>
          <a:bodyPr>
            <a:normAutofit fontScale="90000"/>
          </a:bodyPr>
          <a:lstStyle/>
          <a:p>
            <a:pPr algn="ctr"/>
            <a:br>
              <a:rPr lang="en-US" dirty="0"/>
            </a:br>
            <a:r>
              <a:rPr lang="en-US" dirty="0"/>
              <a:t>Types of Oil Tankers</a:t>
            </a:r>
            <a:br>
              <a:rPr lang="en-US" dirty="0"/>
            </a:br>
            <a:endParaRPr lang="es-PA" dirty="0"/>
          </a:p>
        </p:txBody>
      </p:sp>
      <p:sp>
        <p:nvSpPr>
          <p:cNvPr id="3" name="Marcador de contenido 2">
            <a:extLst>
              <a:ext uri="{FF2B5EF4-FFF2-40B4-BE49-F238E27FC236}">
                <a16:creationId xmlns:a16="http://schemas.microsoft.com/office/drawing/2014/main" id="{6756CF81-36B6-4AE2-8AFC-5356D75FE6D3}"/>
              </a:ext>
            </a:extLst>
          </p:cNvPr>
          <p:cNvSpPr>
            <a:spLocks noGrp="1"/>
          </p:cNvSpPr>
          <p:nvPr>
            <p:ph idx="1"/>
          </p:nvPr>
        </p:nvSpPr>
        <p:spPr/>
        <p:txBody>
          <a:bodyPr/>
          <a:lstStyle/>
          <a:p>
            <a:r>
              <a:rPr lang="en-US" dirty="0"/>
              <a:t>Tankers however are not just restricted to one particular type or variety. There are many varied types of tankers that are used in the process of oceanic cargo transportation. This classification of tankers can be based on several factors. However, there are two categories in which shipping tankers can be classified:</a:t>
            </a:r>
          </a:p>
          <a:p>
            <a:r>
              <a:rPr lang="en-US" dirty="0"/>
              <a:t>a.	By Type/Purpose.</a:t>
            </a:r>
          </a:p>
          <a:p>
            <a:r>
              <a:rPr lang="en-US" dirty="0"/>
              <a:t>b.	By Size.</a:t>
            </a:r>
          </a:p>
          <a:p>
            <a:endParaRPr lang="es-PA" dirty="0"/>
          </a:p>
        </p:txBody>
      </p:sp>
    </p:spTree>
    <p:extLst>
      <p:ext uri="{BB962C8B-B14F-4D97-AF65-F5344CB8AC3E}">
        <p14:creationId xmlns:p14="http://schemas.microsoft.com/office/powerpoint/2010/main" val="2319882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F19A9DE-F970-4E22-9CEE-DADC10F66F2B}"/>
              </a:ext>
            </a:extLst>
          </p:cNvPr>
          <p:cNvPicPr>
            <a:picLocks noChangeAspect="1"/>
          </p:cNvPicPr>
          <p:nvPr/>
        </p:nvPicPr>
        <p:blipFill>
          <a:blip r:embed="rId2"/>
          <a:stretch>
            <a:fillRect/>
          </a:stretch>
        </p:blipFill>
        <p:spPr>
          <a:xfrm>
            <a:off x="2487646" y="1390778"/>
            <a:ext cx="6961155" cy="4392158"/>
          </a:xfrm>
          <a:prstGeom prst="rect">
            <a:avLst/>
          </a:prstGeom>
        </p:spPr>
      </p:pic>
    </p:spTree>
    <p:extLst>
      <p:ext uri="{BB962C8B-B14F-4D97-AF65-F5344CB8AC3E}">
        <p14:creationId xmlns:p14="http://schemas.microsoft.com/office/powerpoint/2010/main" val="3397584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F0BAB65-0DE1-4311-B822-72AC59D3CE47}"/>
              </a:ext>
            </a:extLst>
          </p:cNvPr>
          <p:cNvPicPr>
            <a:picLocks noChangeAspect="1"/>
          </p:cNvPicPr>
          <p:nvPr/>
        </p:nvPicPr>
        <p:blipFill>
          <a:blip r:embed="rId2"/>
          <a:stretch>
            <a:fillRect/>
          </a:stretch>
        </p:blipFill>
        <p:spPr>
          <a:xfrm>
            <a:off x="2735541" y="2214447"/>
            <a:ext cx="6544213" cy="2958686"/>
          </a:xfrm>
          <a:prstGeom prst="rect">
            <a:avLst/>
          </a:prstGeom>
        </p:spPr>
      </p:pic>
    </p:spTree>
    <p:extLst>
      <p:ext uri="{BB962C8B-B14F-4D97-AF65-F5344CB8AC3E}">
        <p14:creationId xmlns:p14="http://schemas.microsoft.com/office/powerpoint/2010/main" val="1253363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C73272-20DB-47B8-858C-928C106E58FB}"/>
              </a:ext>
            </a:extLst>
          </p:cNvPr>
          <p:cNvSpPr>
            <a:spLocks noGrp="1"/>
          </p:cNvSpPr>
          <p:nvPr>
            <p:ph type="title"/>
          </p:nvPr>
        </p:nvSpPr>
        <p:spPr/>
        <p:txBody>
          <a:bodyPr/>
          <a:lstStyle/>
          <a:p>
            <a:r>
              <a:rPr lang="en-US" dirty="0"/>
              <a:t>Types of Chemical Tankers</a:t>
            </a:r>
            <a:endParaRPr lang="es-PA" dirty="0"/>
          </a:p>
        </p:txBody>
      </p:sp>
      <p:sp>
        <p:nvSpPr>
          <p:cNvPr id="3" name="Marcador de contenido 2">
            <a:extLst>
              <a:ext uri="{FF2B5EF4-FFF2-40B4-BE49-F238E27FC236}">
                <a16:creationId xmlns:a16="http://schemas.microsoft.com/office/drawing/2014/main" id="{A4731C8B-FB06-4FC4-BFA4-859B5CD92F96}"/>
              </a:ext>
            </a:extLst>
          </p:cNvPr>
          <p:cNvSpPr>
            <a:spLocks noGrp="1"/>
          </p:cNvSpPr>
          <p:nvPr>
            <p:ph idx="1"/>
          </p:nvPr>
        </p:nvSpPr>
        <p:spPr/>
        <p:txBody>
          <a:bodyPr/>
          <a:lstStyle/>
          <a:p>
            <a:r>
              <a:rPr lang="en-US" dirty="0"/>
              <a:t>A chemical tanker is a type of tanker ship designed to transport chemicals in bulk. As defined in MARPOL Annex II, chemical tanker means a ship constructed or adapted for carrying in bulk any liquid product listed in chapter 17 of the International Bulk Chemical Code. As well as industrial chemicals and clean petroleum products, such ships also often carry other types of sensitive cargo which require a high standard of tank cleaning, such as palm oil, vegetable oils, tallow, caustic soda, and methanol.</a:t>
            </a:r>
            <a:endParaRPr lang="es-PA" dirty="0"/>
          </a:p>
        </p:txBody>
      </p:sp>
    </p:spTree>
    <p:extLst>
      <p:ext uri="{BB962C8B-B14F-4D97-AF65-F5344CB8AC3E}">
        <p14:creationId xmlns:p14="http://schemas.microsoft.com/office/powerpoint/2010/main" val="2119395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B184F6E-B854-4D84-B427-EBDE3CF73769}"/>
              </a:ext>
            </a:extLst>
          </p:cNvPr>
          <p:cNvSpPr>
            <a:spLocks noGrp="1"/>
          </p:cNvSpPr>
          <p:nvPr>
            <p:ph idx="1"/>
          </p:nvPr>
        </p:nvSpPr>
        <p:spPr>
          <a:xfrm>
            <a:off x="1972733" y="1066799"/>
            <a:ext cx="8597406" cy="5122333"/>
          </a:xfrm>
        </p:spPr>
        <p:txBody>
          <a:bodyPr>
            <a:normAutofit fontScale="85000" lnSpcReduction="10000"/>
          </a:bodyPr>
          <a:lstStyle/>
          <a:p>
            <a:pPr marL="0" indent="0">
              <a:buNone/>
            </a:pPr>
            <a:r>
              <a:rPr lang="en-US" dirty="0"/>
              <a:t>Classification </a:t>
            </a:r>
          </a:p>
          <a:p>
            <a:pPr marL="0" indent="0">
              <a:buNone/>
            </a:pPr>
            <a:r>
              <a:rPr lang="en-US" dirty="0"/>
              <a:t>In general, ships carrying chemicals in bulk are classed into three types:</a:t>
            </a:r>
          </a:p>
          <a:p>
            <a:r>
              <a:rPr lang="en-US" dirty="0"/>
              <a:t>a.	Type 1: is a chemical tanker intended to transport Chapter 17 of the IBC Code products with very severe environmental and safety hazards which require maximum preventive measures to preclude an escape of such cargo.</a:t>
            </a:r>
          </a:p>
          <a:p>
            <a:r>
              <a:rPr lang="en-US" dirty="0"/>
              <a:t>b.	Type 2: is a chemical tanker intended to transport Chapter 17 of the IBC Code products with appreciably severe environmental and safety hazards which require significant preventive measures to preclude an escape such as cargo.</a:t>
            </a:r>
          </a:p>
          <a:p>
            <a:r>
              <a:rPr lang="en-US" dirty="0"/>
              <a:t>c.	Type 3: is a chemical tanker intended to transport Chapter 17 of the IBC Code products with sufficiently severe environmental and safety hazards which require a moderate degree of containment to increase survival capability in a damaged condition. Most chemical tankers are IMO 2 and 3 rated, since the volume of IMO 1 cargoes is very limited.</a:t>
            </a:r>
          </a:p>
          <a:p>
            <a:endParaRPr lang="es-PA" dirty="0"/>
          </a:p>
        </p:txBody>
      </p:sp>
    </p:spTree>
    <p:extLst>
      <p:ext uri="{BB962C8B-B14F-4D97-AF65-F5344CB8AC3E}">
        <p14:creationId xmlns:p14="http://schemas.microsoft.com/office/powerpoint/2010/main" val="2474503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a:extLst>
              <a:ext uri="{FF2B5EF4-FFF2-40B4-BE49-F238E27FC236}">
                <a16:creationId xmlns:a16="http://schemas.microsoft.com/office/drawing/2014/main" id="{2A08FB4D-5FCF-4A4D-A799-3957682B2D29}"/>
              </a:ext>
            </a:extLst>
          </p:cNvPr>
          <p:cNvPicPr>
            <a:picLocks noGrp="1" noChangeAspect="1"/>
          </p:cNvPicPr>
          <p:nvPr>
            <p:ph sz="half" idx="2"/>
          </p:nvPr>
        </p:nvPicPr>
        <p:blipFill>
          <a:blip r:embed="rId2"/>
          <a:stretch>
            <a:fillRect/>
          </a:stretch>
        </p:blipFill>
        <p:spPr>
          <a:xfrm>
            <a:off x="2761199" y="2027792"/>
            <a:ext cx="3334801" cy="2584928"/>
          </a:xfrm>
          <a:prstGeom prst="rect">
            <a:avLst/>
          </a:prstGeom>
        </p:spPr>
      </p:pic>
      <p:pic>
        <p:nvPicPr>
          <p:cNvPr id="8" name="Marcador de contenido 7">
            <a:extLst>
              <a:ext uri="{FF2B5EF4-FFF2-40B4-BE49-F238E27FC236}">
                <a16:creationId xmlns:a16="http://schemas.microsoft.com/office/drawing/2014/main" id="{A320CDE6-6DB4-4EE6-BACF-F70FA280CEC1}"/>
              </a:ext>
            </a:extLst>
          </p:cNvPr>
          <p:cNvPicPr>
            <a:picLocks noGrp="1" noChangeAspect="1"/>
          </p:cNvPicPr>
          <p:nvPr>
            <p:ph sz="quarter" idx="4"/>
          </p:nvPr>
        </p:nvPicPr>
        <p:blipFill>
          <a:blip r:embed="rId3"/>
          <a:stretch>
            <a:fillRect/>
          </a:stretch>
        </p:blipFill>
        <p:spPr>
          <a:xfrm>
            <a:off x="6632046" y="2027792"/>
            <a:ext cx="3900487" cy="2596280"/>
          </a:xfrm>
          <a:prstGeom prst="rect">
            <a:avLst/>
          </a:prstGeom>
        </p:spPr>
      </p:pic>
    </p:spTree>
    <p:extLst>
      <p:ext uri="{BB962C8B-B14F-4D97-AF65-F5344CB8AC3E}">
        <p14:creationId xmlns:p14="http://schemas.microsoft.com/office/powerpoint/2010/main" val="4161000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E9E3D5-587C-4CFD-BED8-B816B748B874}"/>
              </a:ext>
            </a:extLst>
          </p:cNvPr>
          <p:cNvSpPr>
            <a:spLocks noGrp="1"/>
          </p:cNvSpPr>
          <p:nvPr>
            <p:ph type="title"/>
          </p:nvPr>
        </p:nvSpPr>
        <p:spPr/>
        <p:txBody>
          <a:bodyPr/>
          <a:lstStyle/>
          <a:p>
            <a:r>
              <a:rPr lang="es-PA" dirty="0" err="1"/>
              <a:t>Vapour</a:t>
            </a:r>
            <a:r>
              <a:rPr lang="es-PA" dirty="0"/>
              <a:t> </a:t>
            </a:r>
            <a:r>
              <a:rPr lang="es-PA" dirty="0" err="1"/>
              <a:t>manifold</a:t>
            </a:r>
            <a:r>
              <a:rPr lang="es-PA" dirty="0"/>
              <a:t> </a:t>
            </a:r>
            <a:r>
              <a:rPr lang="es-PA" dirty="0" err="1"/>
              <a:t>presentation</a:t>
            </a:r>
            <a:r>
              <a:rPr lang="es-PA" dirty="0"/>
              <a:t> </a:t>
            </a:r>
            <a:r>
              <a:rPr lang="es-PA" dirty="0" err="1"/>
              <a:t>flanges</a:t>
            </a:r>
            <a:r>
              <a:rPr lang="es-PA" dirty="0"/>
              <a:t>, </a:t>
            </a:r>
            <a:r>
              <a:rPr lang="es-PA" dirty="0" err="1"/>
              <a:t>orientation</a:t>
            </a:r>
            <a:r>
              <a:rPr lang="es-PA" dirty="0"/>
              <a:t> and </a:t>
            </a:r>
            <a:r>
              <a:rPr lang="es-PA" dirty="0" err="1"/>
              <a:t>labelling</a:t>
            </a:r>
            <a:endParaRPr lang="es-PA" dirty="0"/>
          </a:p>
        </p:txBody>
      </p:sp>
      <p:pic>
        <p:nvPicPr>
          <p:cNvPr id="4" name="Marcador de contenido 3">
            <a:extLst>
              <a:ext uri="{FF2B5EF4-FFF2-40B4-BE49-F238E27FC236}">
                <a16:creationId xmlns:a16="http://schemas.microsoft.com/office/drawing/2014/main" id="{E9875E6E-C2CF-440C-BAEC-9B47D4D5FD0F}"/>
              </a:ext>
            </a:extLst>
          </p:cNvPr>
          <p:cNvPicPr>
            <a:picLocks noGrp="1" noChangeAspect="1"/>
          </p:cNvPicPr>
          <p:nvPr>
            <p:ph idx="1"/>
          </p:nvPr>
        </p:nvPicPr>
        <p:blipFill>
          <a:blip r:embed="rId2"/>
          <a:stretch>
            <a:fillRect/>
          </a:stretch>
        </p:blipFill>
        <p:spPr>
          <a:xfrm>
            <a:off x="4705338" y="2237583"/>
            <a:ext cx="3932261" cy="3627434"/>
          </a:xfrm>
          <a:prstGeom prst="rect">
            <a:avLst/>
          </a:prstGeom>
        </p:spPr>
      </p:pic>
    </p:spTree>
    <p:extLst>
      <p:ext uri="{BB962C8B-B14F-4D97-AF65-F5344CB8AC3E}">
        <p14:creationId xmlns:p14="http://schemas.microsoft.com/office/powerpoint/2010/main" val="2371695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443883-DEA2-466A-9CA6-AC7ABAB81844}"/>
              </a:ext>
            </a:extLst>
          </p:cNvPr>
          <p:cNvSpPr>
            <a:spLocks noGrp="1"/>
          </p:cNvSpPr>
          <p:nvPr>
            <p:ph type="title"/>
          </p:nvPr>
        </p:nvSpPr>
        <p:spPr/>
        <p:txBody>
          <a:bodyPr/>
          <a:lstStyle/>
          <a:p>
            <a:r>
              <a:rPr lang="es-PA" dirty="0" err="1"/>
              <a:t>Types</a:t>
            </a:r>
            <a:r>
              <a:rPr lang="es-PA" dirty="0"/>
              <a:t> </a:t>
            </a:r>
            <a:r>
              <a:rPr lang="es-PA" dirty="0" err="1"/>
              <a:t>of</a:t>
            </a:r>
            <a:r>
              <a:rPr lang="es-PA" dirty="0"/>
              <a:t> </a:t>
            </a:r>
            <a:r>
              <a:rPr lang="es-PA" dirty="0" err="1"/>
              <a:t>Pumps</a:t>
            </a:r>
            <a:endParaRPr lang="es-PA" dirty="0"/>
          </a:p>
        </p:txBody>
      </p:sp>
      <p:sp>
        <p:nvSpPr>
          <p:cNvPr id="3" name="Marcador de contenido 2">
            <a:extLst>
              <a:ext uri="{FF2B5EF4-FFF2-40B4-BE49-F238E27FC236}">
                <a16:creationId xmlns:a16="http://schemas.microsoft.com/office/drawing/2014/main" id="{9D38B201-54CA-4860-85E5-EE4C9FF23EDA}"/>
              </a:ext>
            </a:extLst>
          </p:cNvPr>
          <p:cNvSpPr>
            <a:spLocks noGrp="1"/>
          </p:cNvSpPr>
          <p:nvPr>
            <p:ph idx="1"/>
          </p:nvPr>
        </p:nvSpPr>
        <p:spPr/>
        <p:txBody>
          <a:bodyPr>
            <a:normAutofit fontScale="92500" lnSpcReduction="10000"/>
          </a:bodyPr>
          <a:lstStyle/>
          <a:p>
            <a:r>
              <a:rPr lang="en-US" sz="1800" b="1" dirty="0">
                <a:effectLst/>
                <a:latin typeface="Arial" panose="020B0604020202020204" pitchFamily="34" charset="0"/>
                <a:ea typeface="Times New Roman" panose="02020603050405020304" pitchFamily="18" charset="0"/>
              </a:rPr>
              <a:t>Centrifugal Pumps</a:t>
            </a:r>
          </a:p>
          <a:p>
            <a:r>
              <a:rPr lang="en-US" sz="1800" b="1" dirty="0">
                <a:effectLst/>
                <a:latin typeface="Arial" panose="020B0604020202020204" pitchFamily="34" charset="0"/>
                <a:ea typeface="Times New Roman" panose="02020603050405020304" pitchFamily="18" charset="0"/>
              </a:rPr>
              <a:t>Positive Displacement Pump</a:t>
            </a:r>
            <a:endParaRPr lang="es-PA" sz="1800" b="1" dirty="0">
              <a:effectLst/>
              <a:latin typeface="Calibri" panose="020F0502020204030204" pitchFamily="34" charset="0"/>
              <a:ea typeface="Times New Roman" panose="02020603050405020304" pitchFamily="18" charset="0"/>
            </a:endParaRPr>
          </a:p>
          <a:p>
            <a:r>
              <a:rPr lang="en-US" sz="1800" b="1" dirty="0">
                <a:effectLst/>
                <a:latin typeface="Arial" panose="020B0604020202020204" pitchFamily="34" charset="0"/>
                <a:ea typeface="Times New Roman" panose="02020603050405020304" pitchFamily="18" charset="0"/>
              </a:rPr>
              <a:t>Submerged Pumps</a:t>
            </a:r>
            <a:endParaRPr lang="es-PA" sz="1800" b="1" dirty="0">
              <a:effectLst/>
              <a:latin typeface="Calibri" panose="020F0502020204030204" pitchFamily="34" charset="0"/>
              <a:ea typeface="Times New Roman" panose="02020603050405020304" pitchFamily="18" charset="0"/>
            </a:endParaRPr>
          </a:p>
          <a:p>
            <a:r>
              <a:rPr lang="en-US" sz="1800" b="1" dirty="0">
                <a:effectLst/>
                <a:latin typeface="Arial" panose="020B0604020202020204" pitchFamily="34" charset="0"/>
                <a:ea typeface="Times New Roman" panose="02020603050405020304" pitchFamily="18" charset="0"/>
              </a:rPr>
              <a:t>Portable Submersible (Emergency) Pump</a:t>
            </a:r>
            <a:endParaRPr lang="es-PA" sz="1800" b="1" dirty="0">
              <a:effectLst/>
              <a:latin typeface="Calibri" panose="020F0502020204030204" pitchFamily="34" charset="0"/>
              <a:ea typeface="Times New Roman" panose="02020603050405020304" pitchFamily="18" charset="0"/>
            </a:endParaRPr>
          </a:p>
          <a:p>
            <a:r>
              <a:rPr lang="en-US" sz="1800" b="1" dirty="0">
                <a:effectLst/>
                <a:latin typeface="Arial" panose="020B0604020202020204" pitchFamily="34" charset="0"/>
                <a:ea typeface="Times New Roman" panose="02020603050405020304" pitchFamily="18" charset="0"/>
              </a:rPr>
              <a:t>Screw Pumps</a:t>
            </a:r>
            <a:endParaRPr lang="es-PA" sz="1800" b="1" dirty="0">
              <a:effectLst/>
              <a:latin typeface="Calibri" panose="020F0502020204030204" pitchFamily="34" charset="0"/>
              <a:ea typeface="Times New Roman" panose="02020603050405020304" pitchFamily="18" charset="0"/>
            </a:endParaRPr>
          </a:p>
          <a:p>
            <a:r>
              <a:rPr lang="en-US" sz="1800" b="1" dirty="0">
                <a:effectLst/>
                <a:latin typeface="Arial" panose="020B0604020202020204" pitchFamily="34" charset="0"/>
                <a:ea typeface="Times New Roman" panose="02020603050405020304" pitchFamily="18" charset="0"/>
              </a:rPr>
              <a:t>Piston Pump </a:t>
            </a:r>
            <a:endParaRPr lang="es-PA" sz="1800" b="1" dirty="0">
              <a:effectLst/>
              <a:latin typeface="Calibri" panose="020F0502020204030204" pitchFamily="34" charset="0"/>
              <a:ea typeface="Times New Roman" panose="02020603050405020304" pitchFamily="18" charset="0"/>
            </a:endParaRPr>
          </a:p>
          <a:p>
            <a:r>
              <a:rPr lang="en-US" sz="1800" b="1" dirty="0">
                <a:effectLst/>
                <a:latin typeface="Arial" panose="020B0604020202020204" pitchFamily="34" charset="0"/>
                <a:ea typeface="Times New Roman" panose="02020603050405020304" pitchFamily="18" charset="0"/>
              </a:rPr>
              <a:t>Lift pump</a:t>
            </a:r>
            <a:endParaRPr lang="es-PA" sz="1800" dirty="0">
              <a:effectLst/>
              <a:latin typeface="Calibri" panose="020F0502020204030204" pitchFamily="34" charset="0"/>
              <a:ea typeface="Times New Roman" panose="02020603050405020304" pitchFamily="18" charset="0"/>
            </a:endParaRPr>
          </a:p>
          <a:p>
            <a:r>
              <a:rPr lang="en-US" sz="1800" b="1" dirty="0">
                <a:effectLst/>
                <a:latin typeface="Arial" panose="020B0604020202020204" pitchFamily="34" charset="0"/>
                <a:ea typeface="Times New Roman" panose="02020603050405020304" pitchFamily="18" charset="0"/>
              </a:rPr>
              <a:t>Force pump</a:t>
            </a:r>
            <a:endParaRPr lang="es-PA" sz="1800" b="1" dirty="0">
              <a:effectLst/>
              <a:latin typeface="Calibri" panose="020F0502020204030204" pitchFamily="34" charset="0"/>
              <a:ea typeface="Times New Roman" panose="02020603050405020304" pitchFamily="18" charset="0"/>
            </a:endParaRPr>
          </a:p>
          <a:p>
            <a:endParaRPr lang="es-PA" dirty="0"/>
          </a:p>
        </p:txBody>
      </p:sp>
    </p:spTree>
    <p:extLst>
      <p:ext uri="{BB962C8B-B14F-4D97-AF65-F5344CB8AC3E}">
        <p14:creationId xmlns:p14="http://schemas.microsoft.com/office/powerpoint/2010/main" val="4046276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FFB5E-5BAD-4BB8-94C0-D0CF64E78C35}"/>
              </a:ext>
            </a:extLst>
          </p:cNvPr>
          <p:cNvSpPr>
            <a:spLocks noGrp="1"/>
          </p:cNvSpPr>
          <p:nvPr>
            <p:ph type="title"/>
          </p:nvPr>
        </p:nvSpPr>
        <p:spPr/>
        <p:txBody>
          <a:bodyPr/>
          <a:lstStyle/>
          <a:p>
            <a:r>
              <a:rPr lang="es-PA" dirty="0"/>
              <a:t>Use </a:t>
            </a:r>
            <a:r>
              <a:rPr lang="es-PA" dirty="0" err="1"/>
              <a:t>of</a:t>
            </a:r>
            <a:r>
              <a:rPr lang="es-PA" dirty="0"/>
              <a:t> </a:t>
            </a:r>
            <a:r>
              <a:rPr lang="es-PA" dirty="0" err="1"/>
              <a:t>eductors</a:t>
            </a:r>
            <a:endParaRPr lang="es-PA" dirty="0"/>
          </a:p>
        </p:txBody>
      </p:sp>
      <p:pic>
        <p:nvPicPr>
          <p:cNvPr id="5" name="Marcador de contenido 4">
            <a:extLst>
              <a:ext uri="{FF2B5EF4-FFF2-40B4-BE49-F238E27FC236}">
                <a16:creationId xmlns:a16="http://schemas.microsoft.com/office/drawing/2014/main" id="{FB710215-1F3F-4A7F-BE53-8B4D7D9389FA}"/>
              </a:ext>
            </a:extLst>
          </p:cNvPr>
          <p:cNvPicPr>
            <a:picLocks noGrp="1" noChangeAspect="1"/>
          </p:cNvPicPr>
          <p:nvPr>
            <p:ph idx="1"/>
          </p:nvPr>
        </p:nvPicPr>
        <p:blipFill>
          <a:blip r:embed="rId2"/>
          <a:stretch>
            <a:fillRect/>
          </a:stretch>
        </p:blipFill>
        <p:spPr>
          <a:xfrm>
            <a:off x="2861732" y="2203661"/>
            <a:ext cx="6856121" cy="3325072"/>
          </a:xfrm>
          <a:prstGeom prst="rect">
            <a:avLst/>
          </a:prstGeom>
        </p:spPr>
      </p:pic>
    </p:spTree>
    <p:extLst>
      <p:ext uri="{BB962C8B-B14F-4D97-AF65-F5344CB8AC3E}">
        <p14:creationId xmlns:p14="http://schemas.microsoft.com/office/powerpoint/2010/main" val="3970396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52ABB-F983-49B4-BEF6-804EF049AA63}"/>
              </a:ext>
            </a:extLst>
          </p:cNvPr>
          <p:cNvSpPr>
            <a:spLocks noGrp="1"/>
          </p:cNvSpPr>
          <p:nvPr>
            <p:ph type="title"/>
          </p:nvPr>
        </p:nvSpPr>
        <p:spPr/>
        <p:txBody>
          <a:bodyPr/>
          <a:lstStyle/>
          <a:p>
            <a:r>
              <a:rPr lang="es-PA" dirty="0" err="1"/>
              <a:t>Health</a:t>
            </a:r>
            <a:r>
              <a:rPr lang="es-PA" dirty="0"/>
              <a:t> </a:t>
            </a:r>
            <a:r>
              <a:rPr lang="es-PA" dirty="0" err="1"/>
              <a:t>hazards</a:t>
            </a:r>
            <a:endParaRPr lang="es-PA" dirty="0"/>
          </a:p>
        </p:txBody>
      </p:sp>
      <p:sp>
        <p:nvSpPr>
          <p:cNvPr id="3" name="Marcador de contenido 2">
            <a:extLst>
              <a:ext uri="{FF2B5EF4-FFF2-40B4-BE49-F238E27FC236}">
                <a16:creationId xmlns:a16="http://schemas.microsoft.com/office/drawing/2014/main" id="{A0211985-7CAF-46AF-B3A3-FDC869733879}"/>
              </a:ext>
            </a:extLst>
          </p:cNvPr>
          <p:cNvSpPr>
            <a:spLocks noGrp="1"/>
          </p:cNvSpPr>
          <p:nvPr>
            <p:ph idx="1"/>
          </p:nvPr>
        </p:nvSpPr>
        <p:spPr/>
        <p:txBody>
          <a:bodyPr/>
          <a:lstStyle/>
          <a:p>
            <a:r>
              <a:rPr lang="es-PA" sz="1800" b="1" dirty="0">
                <a:effectLst/>
                <a:latin typeface="Calibri Light" panose="020F0302020204030204" pitchFamily="34" charset="0"/>
                <a:ea typeface="Times New Roman" panose="02020603050405020304" pitchFamily="18" charset="0"/>
                <a:cs typeface="Times New Roman" panose="02020603050405020304" pitchFamily="18" charset="0"/>
              </a:rPr>
              <a:t>Skin </a:t>
            </a:r>
            <a:r>
              <a:rPr lang="es-PA" sz="1800" b="1" dirty="0" err="1">
                <a:effectLst/>
                <a:latin typeface="Calibri Light" panose="020F0302020204030204" pitchFamily="34" charset="0"/>
                <a:ea typeface="Times New Roman" panose="02020603050405020304" pitchFamily="18" charset="0"/>
                <a:cs typeface="Times New Roman" panose="02020603050405020304" pitchFamily="18" charset="0"/>
              </a:rPr>
              <a:t>Contact</a:t>
            </a:r>
            <a:endParaRPr lang="es-PA" sz="1800" b="1" dirty="0">
              <a:effectLst/>
              <a:latin typeface="Calibri Light" panose="020F0302020204030204" pitchFamily="34" charset="0"/>
              <a:ea typeface="Times New Roman" panose="02020603050405020304" pitchFamily="18" charset="0"/>
              <a:cs typeface="Times New Roman" panose="02020603050405020304" pitchFamily="18" charset="0"/>
            </a:endParaRPr>
          </a:p>
          <a:p>
            <a:r>
              <a:rPr lang="es-PA" sz="1800" b="1" dirty="0" err="1">
                <a:latin typeface="Calibri Light" panose="020F0302020204030204" pitchFamily="34" charset="0"/>
                <a:ea typeface="Times New Roman" panose="02020603050405020304" pitchFamily="18" charset="0"/>
                <a:cs typeface="Times New Roman" panose="02020603050405020304" pitchFamily="18" charset="0"/>
              </a:rPr>
              <a:t>Ingestion</a:t>
            </a:r>
            <a:endParaRPr lang="es-PA" sz="1800" b="1" dirty="0">
              <a:latin typeface="Calibri Light" panose="020F0302020204030204" pitchFamily="34" charset="0"/>
              <a:ea typeface="Times New Roman" panose="02020603050405020304" pitchFamily="18" charset="0"/>
              <a:cs typeface="Times New Roman" panose="02020603050405020304" pitchFamily="18" charset="0"/>
            </a:endParaRPr>
          </a:p>
          <a:p>
            <a:r>
              <a:rPr lang="es-PA" sz="1800" b="1" dirty="0" err="1">
                <a:effectLst/>
                <a:latin typeface="Calibri Light" panose="020F0302020204030204" pitchFamily="34" charset="0"/>
                <a:ea typeface="Times New Roman" panose="02020603050405020304" pitchFamily="18" charset="0"/>
                <a:cs typeface="Times New Roman" panose="02020603050405020304" pitchFamily="18" charset="0"/>
              </a:rPr>
              <a:t>Petroleum</a:t>
            </a:r>
            <a:r>
              <a:rPr lang="es-PA" sz="1800" b="1" dirty="0">
                <a:effectLst/>
                <a:latin typeface="Calibri Light" panose="020F0302020204030204" pitchFamily="34" charset="0"/>
                <a:ea typeface="Times New Roman" panose="02020603050405020304" pitchFamily="18" charset="0"/>
                <a:cs typeface="Times New Roman" panose="02020603050405020304" pitchFamily="18" charset="0"/>
              </a:rPr>
              <a:t> gases</a:t>
            </a:r>
          </a:p>
          <a:p>
            <a:r>
              <a:rPr lang="es-PA" sz="1800" b="1" dirty="0" err="1">
                <a:latin typeface="Calibri Light" panose="020F0302020204030204" pitchFamily="34" charset="0"/>
                <a:ea typeface="Times New Roman" panose="02020603050405020304" pitchFamily="18" charset="0"/>
                <a:cs typeface="Times New Roman" panose="02020603050405020304" pitchFamily="18" charset="0"/>
              </a:rPr>
              <a:t>Exposure</a:t>
            </a:r>
            <a:r>
              <a:rPr lang="es-PA" sz="1800" b="1" dirty="0">
                <a:latin typeface="Calibri Light" panose="020F0302020204030204" pitchFamily="34" charset="0"/>
                <a:ea typeface="Times New Roman" panose="02020603050405020304" pitchFamily="18" charset="0"/>
                <a:cs typeface="Times New Roman" panose="02020603050405020304" pitchFamily="18" charset="0"/>
              </a:rPr>
              <a:t> </a:t>
            </a:r>
            <a:r>
              <a:rPr lang="es-PA" sz="1800" b="1" dirty="0" err="1">
                <a:latin typeface="Calibri Light" panose="020F0302020204030204" pitchFamily="34" charset="0"/>
                <a:ea typeface="Times New Roman" panose="02020603050405020304" pitchFamily="18" charset="0"/>
                <a:cs typeface="Times New Roman" panose="02020603050405020304" pitchFamily="18" charset="0"/>
              </a:rPr>
              <a:t>Limits</a:t>
            </a:r>
            <a:endParaRPr lang="es-PA" sz="1800" b="1" dirty="0">
              <a:latin typeface="Calibri Light" panose="020F0302020204030204" pitchFamily="34" charset="0"/>
              <a:ea typeface="Times New Roman" panose="02020603050405020304" pitchFamily="18" charset="0"/>
              <a:cs typeface="Times New Roman" panose="02020603050405020304" pitchFamily="18" charset="0"/>
            </a:endParaRPr>
          </a:p>
          <a:p>
            <a:r>
              <a:rPr lang="es-PA" sz="1800" b="1" dirty="0" err="1">
                <a:effectLst/>
                <a:latin typeface="Calibri Light" panose="020F0302020204030204" pitchFamily="34" charset="0"/>
                <a:ea typeface="Times New Roman" panose="02020603050405020304" pitchFamily="18" charset="0"/>
                <a:cs typeface="Times New Roman" panose="02020603050405020304" pitchFamily="18" charset="0"/>
              </a:rPr>
              <a:t>Effects</a:t>
            </a:r>
            <a:endParaRPr lang="es-PA" sz="1800" b="1" dirty="0">
              <a:effectLst/>
              <a:latin typeface="Calibri Light" panose="020F0302020204030204" pitchFamily="34" charset="0"/>
              <a:ea typeface="Times New Roman" panose="02020603050405020304" pitchFamily="18" charset="0"/>
              <a:cs typeface="Times New Roman" panose="02020603050405020304" pitchFamily="18" charset="0"/>
            </a:endParaRPr>
          </a:p>
          <a:p>
            <a:r>
              <a:rPr lang="es-PA" sz="1800" b="1" dirty="0" err="1">
                <a:latin typeface="Calibri Light" panose="020F0302020204030204" pitchFamily="34" charset="0"/>
                <a:ea typeface="Times New Roman" panose="02020603050405020304" pitchFamily="18" charset="0"/>
                <a:cs typeface="Times New Roman" panose="02020603050405020304" pitchFamily="18" charset="0"/>
              </a:rPr>
              <a:t>Oxygen</a:t>
            </a:r>
            <a:r>
              <a:rPr lang="es-PA" sz="1800" b="1" dirty="0">
                <a:latin typeface="Calibri Light" panose="020F0302020204030204" pitchFamily="34" charset="0"/>
                <a:ea typeface="Times New Roman" panose="02020603050405020304" pitchFamily="18" charset="0"/>
                <a:cs typeface="Times New Roman" panose="02020603050405020304" pitchFamily="18" charset="0"/>
              </a:rPr>
              <a:t> </a:t>
            </a:r>
            <a:r>
              <a:rPr lang="es-PA" sz="1800" b="1" dirty="0" err="1">
                <a:latin typeface="Calibri Light" panose="020F0302020204030204" pitchFamily="34" charset="0"/>
                <a:ea typeface="Times New Roman" panose="02020603050405020304" pitchFamily="18" charset="0"/>
                <a:cs typeface="Times New Roman" panose="02020603050405020304" pitchFamily="18" charset="0"/>
              </a:rPr>
              <a:t>Deficiency</a:t>
            </a:r>
            <a:endParaRPr lang="es-PA" sz="1800" b="1" dirty="0">
              <a:latin typeface="Calibri Light" panose="020F0302020204030204" pitchFamily="34" charset="0"/>
              <a:ea typeface="Times New Roman" panose="02020603050405020304" pitchFamily="18" charset="0"/>
              <a:cs typeface="Times New Roman" panose="02020603050405020304" pitchFamily="18" charset="0"/>
            </a:endParaRPr>
          </a:p>
          <a:p>
            <a:r>
              <a:rPr lang="es-PA" sz="1800" b="1" dirty="0" err="1">
                <a:effectLst/>
                <a:latin typeface="Calibri Light" panose="020F0302020204030204" pitchFamily="34" charset="0"/>
                <a:ea typeface="Times New Roman" panose="02020603050405020304" pitchFamily="18" charset="0"/>
                <a:cs typeface="Times New Roman" panose="02020603050405020304" pitchFamily="18" charset="0"/>
              </a:rPr>
              <a:t>Confined</a:t>
            </a:r>
            <a:r>
              <a:rPr lang="es-PA" sz="1800" b="1" dirty="0">
                <a:effectLst/>
                <a:latin typeface="Calibri Light" panose="020F0302020204030204" pitchFamily="34" charset="0"/>
                <a:ea typeface="Times New Roman" panose="02020603050405020304" pitchFamily="18" charset="0"/>
                <a:cs typeface="Times New Roman" panose="02020603050405020304" pitchFamily="18" charset="0"/>
              </a:rPr>
              <a:t> Spaces</a:t>
            </a:r>
          </a:p>
        </p:txBody>
      </p:sp>
    </p:spTree>
    <p:extLst>
      <p:ext uri="{BB962C8B-B14F-4D97-AF65-F5344CB8AC3E}">
        <p14:creationId xmlns:p14="http://schemas.microsoft.com/office/powerpoint/2010/main" val="2356491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6A7678C-B3B6-425C-AA61-831B8B7B9E08}"/>
              </a:ext>
            </a:extLst>
          </p:cNvPr>
          <p:cNvSpPr>
            <a:spLocks noGrp="1"/>
          </p:cNvSpPr>
          <p:nvPr>
            <p:ph idx="1"/>
          </p:nvPr>
        </p:nvSpPr>
        <p:spPr>
          <a:xfrm>
            <a:off x="2773599" y="677333"/>
            <a:ext cx="7796540" cy="5372611"/>
          </a:xfrm>
        </p:spPr>
        <p:txBody>
          <a:bodyPr>
            <a:normAutofit fontScale="92500" lnSpcReduction="20000"/>
          </a:bodyPr>
          <a:lstStyle/>
          <a:p>
            <a:pPr marL="0" indent="0">
              <a:buNone/>
            </a:pPr>
            <a:r>
              <a:rPr lang="en-US" dirty="0"/>
              <a:t>Signs and Symptoms of Asphyxia</a:t>
            </a:r>
          </a:p>
          <a:p>
            <a:pPr marL="0" indent="0">
              <a:buNone/>
            </a:pPr>
            <a:r>
              <a:rPr lang="en-US" dirty="0"/>
              <a:t>Any of the following symptoms can lead to asphyxia.</a:t>
            </a:r>
          </a:p>
          <a:p>
            <a:r>
              <a:rPr lang="en-US" dirty="0"/>
              <a:t>Difficulty and/ or noisy breathing, which may ultimately lead to cessation</a:t>
            </a:r>
          </a:p>
          <a:p>
            <a:r>
              <a:rPr lang="en-US" dirty="0"/>
              <a:t>Rapid pulse</a:t>
            </a:r>
          </a:p>
          <a:p>
            <a:r>
              <a:rPr lang="en-US" dirty="0"/>
              <a:t>High blood pressure (hypertension)</a:t>
            </a:r>
          </a:p>
          <a:p>
            <a:r>
              <a:rPr lang="en-US" dirty="0"/>
              <a:t>Cyanosis of the face</a:t>
            </a:r>
          </a:p>
          <a:p>
            <a:r>
              <a:rPr lang="en-US" dirty="0"/>
              <a:t>Swollen veins on the head and neck</a:t>
            </a:r>
          </a:p>
          <a:p>
            <a:r>
              <a:rPr lang="en-US" dirty="0"/>
              <a:t>Convulsions</a:t>
            </a:r>
          </a:p>
          <a:p>
            <a:r>
              <a:rPr lang="en-US" dirty="0"/>
              <a:t>Paralysis</a:t>
            </a:r>
          </a:p>
          <a:p>
            <a:r>
              <a:rPr lang="en-US" dirty="0"/>
              <a:t>Slowly losing consciousness</a:t>
            </a:r>
          </a:p>
          <a:p>
            <a:endParaRPr lang="es-PA" dirty="0"/>
          </a:p>
        </p:txBody>
      </p:sp>
    </p:spTree>
    <p:extLst>
      <p:ext uri="{BB962C8B-B14F-4D97-AF65-F5344CB8AC3E}">
        <p14:creationId xmlns:p14="http://schemas.microsoft.com/office/powerpoint/2010/main" val="21970242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{CE9EFD0F-61EF-44D0-AA4B-92A3FE43F267}tf16401375</Template>
  <TotalTime>48</TotalTime>
  <Words>514</Words>
  <Application>Microsoft Office PowerPoint</Application>
  <PresentationFormat>Panorámica</PresentationFormat>
  <Paragraphs>42</Paragraphs>
  <Slides>13</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13</vt:i4>
      </vt:variant>
    </vt:vector>
  </HeadingPairs>
  <TitlesOfParts>
    <vt:vector size="20" baseType="lpstr">
      <vt:lpstr>Arial</vt:lpstr>
      <vt:lpstr>Calibri</vt:lpstr>
      <vt:lpstr>Calibri Light</vt:lpstr>
      <vt:lpstr>MS Shell Dlg 2</vt:lpstr>
      <vt:lpstr>Wingdings</vt:lpstr>
      <vt:lpstr>Wingdings 3</vt:lpstr>
      <vt:lpstr>Madison</vt:lpstr>
      <vt:lpstr>Presentación de PowerPoint</vt:lpstr>
      <vt:lpstr>Oil Ships</vt:lpstr>
      <vt:lpstr> Types of Oil Tankers </vt:lpstr>
      <vt:lpstr>Presentación de PowerPoint</vt:lpstr>
      <vt:lpstr>Presentación de PowerPoint</vt:lpstr>
      <vt:lpstr>Types of Chemical Tankers</vt:lpstr>
      <vt:lpstr>Presentación de PowerPoint</vt:lpstr>
      <vt:lpstr>Presentación de PowerPoint</vt:lpstr>
      <vt:lpstr>Vapour manifold presentation flanges, orientation and labelling</vt:lpstr>
      <vt:lpstr>Types of Pumps</vt:lpstr>
      <vt:lpstr>Use of eductors</vt:lpstr>
      <vt:lpstr>Health hazards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Usuario</cp:lastModifiedBy>
  <cp:revision>4</cp:revision>
  <dcterms:created xsi:type="dcterms:W3CDTF">2024-08-19T18:44:46Z</dcterms:created>
  <dcterms:modified xsi:type="dcterms:W3CDTF">2024-08-19T19:33:12Z</dcterms:modified>
</cp:coreProperties>
</file>